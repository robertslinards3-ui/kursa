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aleway Bold" charset="1" panose="00000000000000000000"/>
      <p:regular r:id="rId18"/>
    </p:embeddedFont>
    <p:embeddedFont>
      <p:font typeface="Raleway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2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3.png" Type="http://schemas.openxmlformats.org/officeDocument/2006/relationships/image"/><Relationship Id="rId12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https://inovacijas.lu.lv/fileadmin/user_upload/lu_portal/inovacijas.lu.lv/Nolikumi/LU_29.09.2026_Pirmsinkubacija_tematiska_pirmsinkubacija_nolikums_APSTIPRINATS.pdf" TargetMode="External" Type="http://schemas.openxmlformats.org/officeDocument/2006/relationships/hyperlink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2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76613" y="-5028211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6" y="0"/>
                </a:lnTo>
                <a:lnTo>
                  <a:pt x="11977806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18269" y="1496461"/>
            <a:ext cx="7207623" cy="6270691"/>
          </a:xfrm>
          <a:custGeom>
            <a:avLst/>
            <a:gdLst/>
            <a:ahLst/>
            <a:cxnLst/>
            <a:rect r="r" b="b" t="t" l="l"/>
            <a:pathLst>
              <a:path h="6270691" w="7207623">
                <a:moveTo>
                  <a:pt x="0" y="0"/>
                </a:moveTo>
                <a:lnTo>
                  <a:pt x="7207623" y="0"/>
                </a:lnTo>
                <a:lnTo>
                  <a:pt x="7207623" y="6270691"/>
                </a:lnTo>
                <a:lnTo>
                  <a:pt x="0" y="6270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67454" y="801400"/>
            <a:ext cx="7639229" cy="6615228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5064" t="0" r="-15064" b="0"/>
              </a:stretch>
            </a:blipFill>
            <a:ln w="142875" cap="sq">
              <a:solidFill>
                <a:srgbClr val="6085B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2607277"/>
            <a:ext cx="10790171" cy="2191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11"/>
              </a:lnSpc>
            </a:pPr>
            <a:r>
              <a:rPr lang="en-US" sz="7599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PIRMSINKUBĀCIJAS PROGRAMMA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204502" y="4720379"/>
            <a:ext cx="5461598" cy="4751635"/>
          </a:xfrm>
          <a:custGeom>
            <a:avLst/>
            <a:gdLst/>
            <a:ahLst/>
            <a:cxnLst/>
            <a:rect r="r" b="b" t="t" l="l"/>
            <a:pathLst>
              <a:path h="4751635" w="5461598">
                <a:moveTo>
                  <a:pt x="0" y="0"/>
                </a:moveTo>
                <a:lnTo>
                  <a:pt x="5461598" y="0"/>
                </a:lnTo>
                <a:lnTo>
                  <a:pt x="5461598" y="4751635"/>
                </a:lnTo>
                <a:lnTo>
                  <a:pt x="0" y="475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392594" y="4932393"/>
            <a:ext cx="5085414" cy="4403739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41389" t="-29526" r="-27759" b="-458"/>
              </a:stretch>
            </a:blipFill>
            <a:ln w="142875" cap="sq">
              <a:solidFill>
                <a:srgbClr val="6CADD7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5325" y="38653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62288" r="-67653" b="-65012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3317708" y="5804718"/>
            <a:ext cx="3541089" cy="3080776"/>
            <a:chOff x="0" y="0"/>
            <a:chExt cx="4721452" cy="410770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21" id="21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949628" y="6206483"/>
            <a:ext cx="2277247" cy="2277247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28700" y="5095875"/>
            <a:ext cx="9291490" cy="77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 spc="5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AR TEMATISKAJIEM VIRZIENIEM</a:t>
            </a:r>
          </a:p>
          <a:p>
            <a:pPr algn="l">
              <a:lnSpc>
                <a:spcPts val="3177"/>
              </a:lnSpc>
            </a:pPr>
            <a:r>
              <a:rPr lang="en-US" sz="2269" spc="59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ILGTSPĒJĀ UN FINANŠU TEHNOLOĢIJĀS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243188"/>
            <a:ext cx="9291490" cy="39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7"/>
              </a:lnSpc>
            </a:pPr>
            <a:r>
              <a:rPr lang="en-US" sz="2269" spc="59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Ievadlekcija: 27.10.2026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7793" y="2433740"/>
            <a:ext cx="15460371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KAS IR PIRMSINKUBĀCIJAS PROGRAMMA?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45090" y="3616375"/>
            <a:ext cx="13628042" cy="513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5"/>
              </a:lnSpc>
            </a:pPr>
            <a:r>
              <a:rPr lang="en-US" sz="26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</a:t>
            </a: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irmsinkubācijas programma ir četru mēnešu ilga programma, kurā studējošie un skolēni var apgūt uzņēmējdarbības un ideju attīstības pamatus, vienl</a:t>
            </a: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aikus strādājot pie savas biznesa idejas vai inovatīva</a:t>
            </a: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risinājuma.</a:t>
            </a:r>
          </a:p>
          <a:p>
            <a:pPr algn="just">
              <a:lnSpc>
                <a:spcPts val="3715"/>
              </a:lnSpc>
            </a:pPr>
          </a:p>
          <a:p>
            <a:pPr algn="just">
              <a:lnSpc>
                <a:spcPts val="3715"/>
              </a:lnSpc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Programmas laikā dalībnieki:</a:t>
            </a:r>
          </a:p>
          <a:p>
            <a:pPr algn="just" marL="573004" indent="-286502" lvl="1">
              <a:lnSpc>
                <a:spcPts val="3715"/>
              </a:lnSpc>
              <a:buFont typeface="Arial"/>
              <a:buChar char="•"/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Attīsta idejas;</a:t>
            </a:r>
          </a:p>
          <a:p>
            <a:pPr algn="just" marL="573004" indent="-286502" lvl="1">
              <a:lnSpc>
                <a:spcPts val="3715"/>
              </a:lnSpc>
              <a:buFont typeface="Arial"/>
              <a:buChar char="•"/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Apgūst to validāciju;</a:t>
            </a:r>
          </a:p>
          <a:p>
            <a:pPr algn="just" marL="573004" indent="-286502" lvl="1">
              <a:lnSpc>
                <a:spcPts val="3715"/>
              </a:lnSpc>
              <a:buFont typeface="Arial"/>
              <a:buChar char="•"/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Veic tirgus izpēti;</a:t>
            </a:r>
          </a:p>
          <a:p>
            <a:pPr algn="just" marL="573004" indent="-286502" lvl="1">
              <a:lnSpc>
                <a:spcPts val="3715"/>
              </a:lnSpc>
              <a:buFont typeface="Arial"/>
              <a:buChar char="•"/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Izstrādā minimāli dzīvotspējīgu produktu (MVP);</a:t>
            </a:r>
          </a:p>
          <a:p>
            <a:pPr algn="just" marL="573004" indent="-286502" lvl="1">
              <a:lnSpc>
                <a:spcPts val="3715"/>
              </a:lnSpc>
              <a:buFont typeface="Arial"/>
              <a:buChar char="•"/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Veido biznesa modeli un</a:t>
            </a:r>
          </a:p>
          <a:p>
            <a:pPr algn="just" marL="573004" indent="-286502" lvl="1">
              <a:lnSpc>
                <a:spcPts val="3715"/>
              </a:lnSpc>
              <a:buFont typeface="Arial"/>
              <a:buChar char="•"/>
            </a:pPr>
            <a:r>
              <a:rPr lang="en-US" b="true" sz="26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Iegūst citas uzņēmējdarbībā nepieciešamas prasmes.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873133" y="6001898"/>
            <a:ext cx="3186563" cy="2772335"/>
            <a:chOff x="0" y="0"/>
            <a:chExt cx="4248750" cy="36964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48750" cy="3696447"/>
            </a:xfrm>
            <a:custGeom>
              <a:avLst/>
              <a:gdLst/>
              <a:ahLst/>
              <a:cxnLst/>
              <a:rect r="r" b="b" t="t" l="l"/>
              <a:pathLst>
                <a:path h="3696447" w="4248750">
                  <a:moveTo>
                    <a:pt x="0" y="0"/>
                  </a:moveTo>
                  <a:lnTo>
                    <a:pt x="4248750" y="0"/>
                  </a:lnTo>
                  <a:lnTo>
                    <a:pt x="4248750" y="3696447"/>
                  </a:lnTo>
                  <a:lnTo>
                    <a:pt x="0" y="3696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46191" y="148222"/>
              <a:ext cx="3956367" cy="3400003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441787" y="6363439"/>
            <a:ext cx="2049253" cy="20492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7793" y="2588227"/>
            <a:ext cx="11625240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PROGRAMMAS NORISE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789609"/>
            <a:ext cx="16985423" cy="2620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Ilgums: No 27. oktobra līdz 26. februārim</a:t>
            </a:r>
          </a:p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Nodarbību formāts: 45min seminārs un 90min praktiskā daļa</a:t>
            </a:r>
          </a:p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Individuālais komandas darbs: Aptuveni 3h nedēļā</a:t>
            </a:r>
          </a:p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Tikšanās ar komandu vadītājiem: Reizi nedēļā</a:t>
            </a:r>
          </a:p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Nodarbību a</a:t>
            </a:r>
            <a:r>
              <a:rPr lang="en-US" b="true" sz="2954" u="sng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pmeklējums ir obligāts un tiek reģistrēts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7793" y="2588227"/>
            <a:ext cx="10790171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LEKCIJU PLĀNS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912956"/>
            <a:ext cx="16985423" cy="462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Otrdienās un Ceturtdienās</a:t>
            </a:r>
          </a:p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18:15 - 19:00 Seminārs</a:t>
            </a:r>
          </a:p>
          <a:p>
            <a:pPr algn="just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19:15 - 20:45 Praktiskais darbs</a:t>
            </a:r>
          </a:p>
          <a:p>
            <a:pPr algn="just">
              <a:lnSpc>
                <a:spcPts val="4135"/>
              </a:lnSpc>
            </a:pPr>
          </a:p>
          <a:p>
            <a:pPr algn="just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Norises vieta: LU Zinātņu mājā, auditorija ALFA</a:t>
            </a:r>
          </a:p>
          <a:p>
            <a:pPr algn="just">
              <a:lnSpc>
                <a:spcPts val="4135"/>
              </a:lnSpc>
            </a:pPr>
          </a:p>
          <a:p>
            <a:pPr algn="just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Attālināta dalība lekcijās nav paredzēta.</a:t>
            </a:r>
          </a:p>
          <a:p>
            <a:pPr algn="just">
              <a:lnSpc>
                <a:spcPts val="4135"/>
              </a:lnSpc>
            </a:pPr>
          </a:p>
          <a:p>
            <a:pPr algn="just">
              <a:lnSpc>
                <a:spcPts val="413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97793" y="2586231"/>
            <a:ext cx="14520144" cy="144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GALVENIE PROGRAMMAS DATUMI UN NODEVUMI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189606"/>
            <a:ext cx="16985423" cy="462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Labota pieteikuma veidlapa - 1.11.2026</a:t>
            </a:r>
          </a:p>
          <a:p>
            <a:pPr algn="l">
              <a:lnSpc>
                <a:spcPts val="4135"/>
              </a:lnSpc>
            </a:pP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Starpposma atskaite - 14.1.2027</a:t>
            </a:r>
          </a:p>
          <a:p>
            <a:pPr algn="l">
              <a:lnSpc>
                <a:spcPts val="4135"/>
              </a:lnSpc>
            </a:pP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Starpposma prezentācija - 21.01.2027</a:t>
            </a:r>
          </a:p>
          <a:p>
            <a:pPr algn="l">
              <a:lnSpc>
                <a:spcPts val="4135"/>
              </a:lnSpc>
            </a:pP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Noslēguma atskaite - 18.02.2027</a:t>
            </a:r>
          </a:p>
          <a:p>
            <a:pPr algn="l">
              <a:lnSpc>
                <a:spcPts val="4135"/>
              </a:lnSpc>
            </a:pP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Demo diena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87754"/>
            <a:ext cx="11402555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STIPENDIJU PIETEIKŠĀNĀS KĀRTĪBA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530043"/>
            <a:ext cx="16985423" cy="513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Konkursa kārtībā tiek piešķirtas 60 individuālās stipendijas 280 EUR apmērā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Lai piedalītos konkursā jāiesniedz iesniegums kurā jāietver: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Vārds, uzvārds un studenta apliecības numurs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Personas kods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Bankas konta numurs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Deklarētā dzīvesvieta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Universitātes nosaukums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Programmas virziens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E-pasts un tālruņa numurs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87754"/>
            <a:ext cx="11402555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STIPENDIJU VĒRTĒŠANAS KĀRTĪBA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530043"/>
            <a:ext cx="16985423" cy="565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Stipendijas tiek izmaksātas sākot no programmas otrā mēneša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Vērtēšana notiek pamatojoties uz Studenta iesniegto ikmēneša atskaiti, kas ietver: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Vārdu un uzvārdu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Komandas nosaukumu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Tikšanos skaitu ar Darba vadītāju (+ datumu)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Vismaz 1 apgūtu prasmi/zināšanu un tās saistību ar Komandas pieteikumu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Periodā plānotos uzdevumus, rezultātus un faktiski paveikto (ar atsauci)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Nākamajā periodā plānotos uzdevumus un sagaidāmos rezultātus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87754"/>
            <a:ext cx="11402555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STIPENDIJU TERMIŅI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530043"/>
            <a:ext cx="16985423" cy="462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Stipendiju iesnieguma termiņš - 13.11.2026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Pirmā ikmēneša atskaite - 27.12.2026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Otrā ikmēneša atskaite - 27.01.2027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Trešā ikmēneša atskaite - 27.02.2027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Stipendijas tiek izmaksātas 10 dienu laikā pēc vērtēšanas komisijas lēmuma.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87754"/>
            <a:ext cx="11402555" cy="144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SADARBĪBA AR KOMANDAS DARBA VADĪTĀJU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139370"/>
            <a:ext cx="16985423" cy="565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Darba vadītājs nav komandas dalībnieks un tieši nepiedalās pieteikuma izstrādē.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 komandas dalībniekiem sagaida: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Regulāru komunikāciju ar darba vadītāju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Vienošanos un termiņu ievērošanu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Nodevumu saskaņošanu ar darba vadītāju pirms iesniegšanas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Savlaicīgu informēšanu par izmaiņām un/vai šķēršļiem darba izpildē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Iesakām organizēt tikšanās ar darba vadītāju reizi nedēļā.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746911" y="5970365"/>
            <a:ext cx="3541089" cy="3080776"/>
            <a:chOff x="0" y="0"/>
            <a:chExt cx="4721452" cy="41077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grpSp>
          <p:nvGrpSpPr>
            <p:cNvPr name="Group 16" id="16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78832" y="6372129"/>
            <a:ext cx="2277247" cy="22772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20740"/>
            <a:ext cx="11402555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KUR ATRAST INFORMĀCIJU?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211980"/>
            <a:ext cx="16985423" cy="681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Visa informācija par programmu pieejama inovacijas.lu.lv sadaļā “Pirmsinkubācijas programma”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Iesniedzamo nodevumu veidlapas un piemēri pieejami </a:t>
            </a:r>
            <a:r>
              <a:rPr lang="en-US" b="true" sz="2954" u="sng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  <a:hlinkClick r:id="rId6" tooltip="https://inovacijas.lu.lv/fileadmin/user_upload/lu_portal/inovacijas.lu.lv/Nolikumi/LU_29.09.2026_Pirmsinkubacija_tematiska_pirmsinkubacija_nolikums_APSTIPRINATS.pdf"/>
              </a:rPr>
              <a:t>ŠEIT</a:t>
            </a: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Programmas grafiks un saturs pieejams e-studijās un tiks nosūtīts e-pastā.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  <a:r>
              <a:rPr lang="en-US" sz="295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Kontaktpersonas: 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Ikdienas jautājumi: Darba vadītāji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Administratīvi jautājumi un nodevumu iesniegšana: inkubacija@lu.lv</a:t>
            </a:r>
          </a:p>
          <a:p>
            <a:pPr algn="l" marL="637772" indent="-318886" lvl="1">
              <a:lnSpc>
                <a:spcPts val="4135"/>
              </a:lnSpc>
              <a:buFont typeface="Arial"/>
              <a:buChar char="•"/>
            </a:pPr>
            <a:r>
              <a:rPr lang="en-US" b="true" sz="295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Jautājumi par stipendijām: gerda_anna.kalnare@lu.lv</a:t>
            </a:r>
          </a:p>
          <a:p>
            <a:pPr algn="l">
              <a:lnSpc>
                <a:spcPts val="4135"/>
              </a:lnSpc>
            </a:pPr>
          </a:p>
          <a:p>
            <a:pPr algn="l">
              <a:lnSpc>
                <a:spcPts val="413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2288" r="-67653" b="-65012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43915" y="-1834506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7" y="0"/>
                </a:lnTo>
                <a:lnTo>
                  <a:pt x="11977807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20740"/>
            <a:ext cx="11402555" cy="73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0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TURPMĀKIE SOĻI UN UZDEVUMI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94658" y="11305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62288" r="-67653" b="-6501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4658" y="3278593"/>
            <a:ext cx="8269962" cy="51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Pievienojies sava virziena Whatsapp grupai: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94658" y="4094509"/>
            <a:ext cx="2013351" cy="2028958"/>
          </a:xfrm>
          <a:custGeom>
            <a:avLst/>
            <a:gdLst/>
            <a:ahLst/>
            <a:cxnLst/>
            <a:rect r="r" b="b" t="t" l="l"/>
            <a:pathLst>
              <a:path h="2028958" w="2013351">
                <a:moveTo>
                  <a:pt x="0" y="0"/>
                </a:moveTo>
                <a:lnTo>
                  <a:pt x="2013351" y="0"/>
                </a:lnTo>
                <a:lnTo>
                  <a:pt x="2013351" y="2028958"/>
                </a:lnTo>
                <a:lnTo>
                  <a:pt x="0" y="2028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46404" y="4129021"/>
            <a:ext cx="2013351" cy="2028958"/>
          </a:xfrm>
          <a:custGeom>
            <a:avLst/>
            <a:gdLst/>
            <a:ahLst/>
            <a:cxnLst/>
            <a:rect r="r" b="b" t="t" l="l"/>
            <a:pathLst>
              <a:path h="2028958" w="2013351">
                <a:moveTo>
                  <a:pt x="0" y="0"/>
                </a:moveTo>
                <a:lnTo>
                  <a:pt x="2013352" y="0"/>
                </a:lnTo>
                <a:lnTo>
                  <a:pt x="2013352" y="2028958"/>
                </a:lnTo>
                <a:lnTo>
                  <a:pt x="0" y="20289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97956" y="4094509"/>
            <a:ext cx="2013351" cy="2028958"/>
          </a:xfrm>
          <a:custGeom>
            <a:avLst/>
            <a:gdLst/>
            <a:ahLst/>
            <a:cxnLst/>
            <a:rect r="r" b="b" t="t" l="l"/>
            <a:pathLst>
              <a:path h="2028958" w="2013351">
                <a:moveTo>
                  <a:pt x="0" y="0"/>
                </a:moveTo>
                <a:lnTo>
                  <a:pt x="2013351" y="0"/>
                </a:lnTo>
                <a:lnTo>
                  <a:pt x="2013351" y="2028958"/>
                </a:lnTo>
                <a:lnTo>
                  <a:pt x="0" y="20289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9879" y="6371117"/>
            <a:ext cx="2201019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Idea to Impact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0868" y="6371117"/>
            <a:ext cx="158442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MoneyLab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8934" y="6371117"/>
            <a:ext cx="139139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PowerUp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9879" y="7050567"/>
            <a:ext cx="8269962" cy="157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299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To-do:</a:t>
            </a:r>
          </a:p>
          <a:p>
            <a:pPr algn="l" marL="646560" indent="-323280" lvl="1">
              <a:lnSpc>
                <a:spcPts val="4192"/>
              </a:lnSpc>
              <a:buFont typeface="Arial"/>
              <a:buChar char="•"/>
            </a:pPr>
            <a:r>
              <a:rPr lang="en-US" b="true" sz="299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Izlabot pieteikuma veidlapas</a:t>
            </a:r>
          </a:p>
          <a:p>
            <a:pPr algn="l" marL="646560" indent="-323280" lvl="1">
              <a:lnSpc>
                <a:spcPts val="4192"/>
              </a:lnSpc>
              <a:buFont typeface="Arial"/>
              <a:buChar char="•"/>
            </a:pPr>
            <a:r>
              <a:rPr lang="en-US" b="true" sz="2994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Iepazīties ar programmas nolikumu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2D74">
                <a:alpha val="100000"/>
              </a:srgbClr>
            </a:gs>
            <a:gs pos="20000">
              <a:srgbClr val="1D4289">
                <a:alpha val="100000"/>
              </a:srgbClr>
            </a:gs>
            <a:gs pos="40000">
              <a:srgbClr val="1D4289">
                <a:alpha val="90000"/>
              </a:srgbClr>
            </a:gs>
            <a:gs pos="60000">
              <a:srgbClr val="5E87C6">
                <a:alpha val="100000"/>
              </a:srgbClr>
            </a:gs>
            <a:gs pos="80000">
              <a:srgbClr val="81E1FF">
                <a:alpha val="100000"/>
              </a:srgbClr>
            </a:gs>
            <a:gs pos="100000">
              <a:srgbClr val="81E1FF">
                <a:alpha val="84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76613" y="-5028211"/>
            <a:ext cx="11977806" cy="11858028"/>
          </a:xfrm>
          <a:custGeom>
            <a:avLst/>
            <a:gdLst/>
            <a:ahLst/>
            <a:cxnLst/>
            <a:rect r="r" b="b" t="t" l="l"/>
            <a:pathLst>
              <a:path h="11858028" w="11977806">
                <a:moveTo>
                  <a:pt x="0" y="0"/>
                </a:moveTo>
                <a:lnTo>
                  <a:pt x="11977806" y="0"/>
                </a:lnTo>
                <a:lnTo>
                  <a:pt x="11977806" y="11858029"/>
                </a:lnTo>
                <a:lnTo>
                  <a:pt x="0" y="1185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18269" y="1496461"/>
            <a:ext cx="7207623" cy="6270691"/>
          </a:xfrm>
          <a:custGeom>
            <a:avLst/>
            <a:gdLst/>
            <a:ahLst/>
            <a:cxnLst/>
            <a:rect r="r" b="b" t="t" l="l"/>
            <a:pathLst>
              <a:path h="6270691" w="7207623">
                <a:moveTo>
                  <a:pt x="0" y="0"/>
                </a:moveTo>
                <a:lnTo>
                  <a:pt x="7207623" y="0"/>
                </a:lnTo>
                <a:lnTo>
                  <a:pt x="7207623" y="6270691"/>
                </a:lnTo>
                <a:lnTo>
                  <a:pt x="0" y="6270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67454" y="801400"/>
            <a:ext cx="7639229" cy="6615228"/>
            <a:chOff x="0" y="0"/>
            <a:chExt cx="4282440" cy="370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/>
              <a:stretch>
                <a:fillRect l="-15064" t="0" r="-15064" b="0"/>
              </a:stretch>
            </a:blipFill>
            <a:ln w="142875" cap="sq">
              <a:solidFill>
                <a:srgbClr val="6085BC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3058043"/>
            <a:ext cx="8115300" cy="42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5"/>
              </a:lnSpc>
            </a:pPr>
            <a:r>
              <a:rPr lang="en-US" sz="7398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PALDIES PAR UZMANĪBU UN VEIKSMI DARBOS! :)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204502" y="4720379"/>
            <a:ext cx="5461598" cy="4751635"/>
          </a:xfrm>
          <a:custGeom>
            <a:avLst/>
            <a:gdLst/>
            <a:ahLst/>
            <a:cxnLst/>
            <a:rect r="r" b="b" t="t" l="l"/>
            <a:pathLst>
              <a:path h="4751635" w="5461598">
                <a:moveTo>
                  <a:pt x="0" y="0"/>
                </a:moveTo>
                <a:lnTo>
                  <a:pt x="5461598" y="0"/>
                </a:lnTo>
                <a:lnTo>
                  <a:pt x="5461598" y="4751635"/>
                </a:lnTo>
                <a:lnTo>
                  <a:pt x="0" y="475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392594" y="4932393"/>
            <a:ext cx="5085414" cy="4403739"/>
            <a:chOff x="0" y="0"/>
            <a:chExt cx="4282440" cy="370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82440" cy="3708400"/>
            </a:xfrm>
            <a:custGeom>
              <a:avLst/>
              <a:gdLst/>
              <a:ahLst/>
              <a:cxnLst/>
              <a:rect r="r" b="b" t="t" l="l"/>
              <a:pathLst>
                <a:path h="3708400" w="428244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6"/>
              <a:stretch>
                <a:fillRect l="-41389" t="-29526" r="-27759" b="-458"/>
              </a:stretch>
            </a:blipFill>
            <a:ln w="142875" cap="sq">
              <a:solidFill>
                <a:srgbClr val="6CADD7"/>
              </a:solidFill>
              <a:prstDash val="solid"/>
              <a:miter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05325" y="386530"/>
            <a:ext cx="5141308" cy="2355654"/>
          </a:xfrm>
          <a:custGeom>
            <a:avLst/>
            <a:gdLst/>
            <a:ahLst/>
            <a:cxnLst/>
            <a:rect r="r" b="b" t="t" l="l"/>
            <a:pathLst>
              <a:path h="2355654" w="5141308">
                <a:moveTo>
                  <a:pt x="0" y="0"/>
                </a:moveTo>
                <a:lnTo>
                  <a:pt x="5141308" y="0"/>
                </a:lnTo>
                <a:lnTo>
                  <a:pt x="5141308" y="2355654"/>
                </a:lnTo>
                <a:lnTo>
                  <a:pt x="0" y="235565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612701" y="9051141"/>
            <a:ext cx="19513403" cy="1881787"/>
            <a:chOff x="0" y="0"/>
            <a:chExt cx="5139332" cy="4956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39332" cy="495615"/>
            </a:xfrm>
            <a:custGeom>
              <a:avLst/>
              <a:gdLst/>
              <a:ahLst/>
              <a:cxnLst/>
              <a:rect r="r" b="b" t="t" l="l"/>
              <a:pathLst>
                <a:path h="495615" w="5139332">
                  <a:moveTo>
                    <a:pt x="0" y="0"/>
                  </a:moveTo>
                  <a:lnTo>
                    <a:pt x="5139332" y="0"/>
                  </a:lnTo>
                  <a:lnTo>
                    <a:pt x="5139332" y="495615"/>
                  </a:lnTo>
                  <a:lnTo>
                    <a:pt x="0" y="4956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39332" cy="54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97793" y="9359439"/>
            <a:ext cx="632596" cy="632596"/>
          </a:xfrm>
          <a:custGeom>
            <a:avLst/>
            <a:gdLst/>
            <a:ahLst/>
            <a:cxnLst/>
            <a:rect r="r" b="b" t="t" l="l"/>
            <a:pathLst>
              <a:path h="632596" w="632596">
                <a:moveTo>
                  <a:pt x="0" y="0"/>
                </a:moveTo>
                <a:lnTo>
                  <a:pt x="632596" y="0"/>
                </a:lnTo>
                <a:lnTo>
                  <a:pt x="632596" y="632595"/>
                </a:lnTo>
                <a:lnTo>
                  <a:pt x="0" y="6325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02597" y="9393301"/>
            <a:ext cx="630221" cy="630221"/>
          </a:xfrm>
          <a:custGeom>
            <a:avLst/>
            <a:gdLst/>
            <a:ahLst/>
            <a:cxnLst/>
            <a:rect r="r" b="b" t="t" l="l"/>
            <a:pathLst>
              <a:path h="630221" w="630221">
                <a:moveTo>
                  <a:pt x="0" y="0"/>
                </a:moveTo>
                <a:lnTo>
                  <a:pt x="630222" y="0"/>
                </a:lnTo>
                <a:lnTo>
                  <a:pt x="630222" y="630222"/>
                </a:lnTo>
                <a:lnTo>
                  <a:pt x="0" y="6302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776613" y="9102113"/>
            <a:ext cx="4576015" cy="1125703"/>
          </a:xfrm>
          <a:custGeom>
            <a:avLst/>
            <a:gdLst/>
            <a:ahLst/>
            <a:cxnLst/>
            <a:rect r="r" b="b" t="t" l="l"/>
            <a:pathLst>
              <a:path h="1125703" w="4576015">
                <a:moveTo>
                  <a:pt x="0" y="0"/>
                </a:moveTo>
                <a:lnTo>
                  <a:pt x="4576014" y="0"/>
                </a:lnTo>
                <a:lnTo>
                  <a:pt x="4576014" y="1125703"/>
                </a:lnTo>
                <a:lnTo>
                  <a:pt x="0" y="11257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62288" r="-67653" b="-65012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3317708" y="5804718"/>
            <a:ext cx="3541089" cy="3080776"/>
            <a:chOff x="0" y="0"/>
            <a:chExt cx="4721452" cy="41077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721452" cy="4107701"/>
            </a:xfrm>
            <a:custGeom>
              <a:avLst/>
              <a:gdLst/>
              <a:ahLst/>
              <a:cxnLst/>
              <a:rect r="r" b="b" t="t" l="l"/>
              <a:pathLst>
                <a:path h="4107701" w="4721452">
                  <a:moveTo>
                    <a:pt x="0" y="0"/>
                  </a:moveTo>
                  <a:lnTo>
                    <a:pt x="4721452" y="0"/>
                  </a:lnTo>
                  <a:lnTo>
                    <a:pt x="4721452" y="4107701"/>
                  </a:lnTo>
                  <a:lnTo>
                    <a:pt x="0" y="4107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162456" y="164713"/>
              <a:ext cx="4396539" cy="3778276"/>
              <a:chOff x="0" y="0"/>
              <a:chExt cx="812800" cy="698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698500"/>
              </a:xfrm>
              <a:custGeom>
                <a:avLst/>
                <a:gdLst/>
                <a:ahLst/>
                <a:cxnLst/>
                <a:rect r="r" b="b" t="t" l="l"/>
                <a:pathLst>
                  <a:path h="698500" w="812800">
                    <a:moveTo>
                      <a:pt x="812800" y="349250"/>
                    </a:moveTo>
                    <a:lnTo>
                      <a:pt x="609600" y="698500"/>
                    </a:lnTo>
                    <a:lnTo>
                      <a:pt x="203200" y="698500"/>
                    </a:lnTo>
                    <a:lnTo>
                      <a:pt x="0" y="349250"/>
                    </a:lnTo>
                    <a:lnTo>
                      <a:pt x="203200" y="0"/>
                    </a:lnTo>
                    <a:lnTo>
                      <a:pt x="609600" y="0"/>
                    </a:lnTo>
                    <a:lnTo>
                      <a:pt x="812800" y="349250"/>
                    </a:lnTo>
                    <a:close/>
                  </a:path>
                </a:pathLst>
              </a:custGeom>
              <a:solidFill>
                <a:srgbClr val="002D74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114300" y="-28575"/>
                <a:ext cx="584200" cy="727075"/>
              </a:xfrm>
              <a:prstGeom prst="rect">
                <a:avLst/>
              </a:prstGeom>
            </p:spPr>
            <p:txBody>
              <a:bodyPr anchor="ctr" rtlCol="false" tIns="31170" lIns="31170" bIns="31170" rIns="31170"/>
              <a:lstStyle/>
              <a:p>
                <a:pPr algn="ctr">
                  <a:lnSpc>
                    <a:spcPts val="2353"/>
                  </a:lnSpc>
                </a:pPr>
              </a:p>
            </p:txBody>
          </p:sp>
        </p:grpSp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3949628" y="6206483"/>
            <a:ext cx="2277247" cy="2277247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2164021" y="9431261"/>
            <a:ext cx="2964766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www.inovacijas.lu.lv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66194" y="9463937"/>
            <a:ext cx="310392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2D74"/>
                </a:solidFill>
                <a:latin typeface="Raleway"/>
                <a:ea typeface="Raleway"/>
                <a:cs typeface="Raleway"/>
                <a:sym typeface="Raleway"/>
              </a:rPr>
              <a:t>inovaciju.granti@lu.lv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DAHVVTAgkc4</dc:identifier>
  <dcterms:modified xsi:type="dcterms:W3CDTF">2011-08-01T06:04:30Z</dcterms:modified>
  <cp:revision>1</cp:revision>
  <dc:title>Prezentācijas studentiem_Pirmsinkubācija</dc:title>
</cp:coreProperties>
</file>